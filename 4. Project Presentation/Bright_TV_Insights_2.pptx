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rts/chart1.xml" ContentType="application/vnd.openxmlformats-officedocument.drawingml.chart+xml"/>
  <Override PartName="/ppt/notesSlides/notesSlide4.xml" ContentType="application/vnd.openxmlformats-officedocument.presentationml.notesSlide+xml"/>
  <Override PartName="/ppt/charts/chart2.xml" ContentType="application/vnd.openxmlformats-officedocument.drawingml.chart+xml"/>
  <Override PartName="/ppt/notesSlides/notesSlide5.xml" ContentType="application/vnd.openxmlformats-officedocument.presentationml.notesSlide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notesSlides/notesSlide6.xml" ContentType="application/vnd.openxmlformats-officedocument.presentationml.notesSlide+xml"/>
  <Override PartName="/ppt/charts/chart6.xml" ContentType="application/vnd.openxmlformats-officedocument.drawingml.chart+xml"/>
  <Override PartName="/ppt/notesSlides/notesSlide7.xml" ContentType="application/vnd.openxmlformats-officedocument.presentationml.notesSlide+xml"/>
  <Override PartName="/ppt/charts/chart7.xml" ContentType="application/vnd.openxmlformats-officedocument.drawingml.chart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7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Sessions</c:v>
                </c:pt>
              </c:strCache>
            </c:strRef>
          </c:tx>
          <c:spPr>
            <a:solidFill>
              <a:srgbClr val="1E2761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0F1840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Sheet1!$A$2:$A$11</c:f>
              <c:strCache>
                <c:ptCount val="10"/>
                <c:pt idx="0">
                  <c:v>Supersport Live Events</c:v>
                </c:pt>
                <c:pt idx="1">
                  <c:v>ICC Cricket World Cup 2011</c:v>
                </c:pt>
                <c:pt idx="2">
                  <c:v>Channel O</c:v>
                </c:pt>
                <c:pt idx="3">
                  <c:v>Trace TV</c:v>
                </c:pt>
                <c:pt idx="4">
                  <c:v>SuperSport Blitz</c:v>
                </c:pt>
                <c:pt idx="5">
                  <c:v>Africa Magic</c:v>
                </c:pt>
                <c:pt idx="6">
                  <c:v>Cartoon Network</c:v>
                </c:pt>
                <c:pt idx="7">
                  <c:v>Boomerang</c:v>
                </c:pt>
                <c:pt idx="8">
                  <c:v>CNN</c:v>
                </c:pt>
                <c:pt idx="9">
                  <c:v>E! Entertainment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1638</c:v>
                </c:pt>
                <c:pt idx="1">
                  <c:v>1465</c:v>
                </c:pt>
                <c:pt idx="2">
                  <c:v>1050</c:v>
                </c:pt>
                <c:pt idx="3">
                  <c:v>952</c:v>
                </c:pt>
                <c:pt idx="4">
                  <c:v>896</c:v>
                </c:pt>
                <c:pt idx="5">
                  <c:v>859</c:v>
                </c:pt>
                <c:pt idx="6">
                  <c:v>793</c:v>
                </c:pt>
                <c:pt idx="7">
                  <c:v>714</c:v>
                </c:pt>
                <c:pt idx="8">
                  <c:v>505</c:v>
                </c:pt>
                <c:pt idx="9">
                  <c:v>367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AF6A-43F4-9738-C10F82C759AD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Sessions</c:v>
                </c:pt>
              </c:strCache>
            </c:strRef>
          </c:tx>
          <c:spPr>
            <a:solidFill>
              <a:srgbClr val="1E2761">
                <a:alpha val="100000"/>
              </a:srgbClr>
            </a:solidFill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1E2761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50E0-4FA7-AC2D-F9D4CFD64997}"/>
              </c:ext>
            </c:extLst>
          </c:dPt>
          <c:dPt>
            <c:idx val="1"/>
            <c:invertIfNegative val="0"/>
            <c:bubble3D val="0"/>
            <c:spPr>
              <a:solidFill>
                <a:srgbClr val="F2B134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50E0-4FA7-AC2D-F9D4CFD64997}"/>
              </c:ext>
            </c:extLst>
          </c:dPt>
          <c:dPt>
            <c:idx val="2"/>
            <c:invertIfNegative val="0"/>
            <c:bubble3D val="0"/>
            <c:spPr>
              <a:solidFill>
                <a:srgbClr val="1E2761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50E0-4FA7-AC2D-F9D4CFD64997}"/>
              </c:ext>
            </c:extLst>
          </c:dPt>
          <c:dPt>
            <c:idx val="3"/>
            <c:invertIfNegative val="0"/>
            <c:bubble3D val="0"/>
            <c:spPr>
              <a:solidFill>
                <a:srgbClr val="1E2761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50E0-4FA7-AC2D-F9D4CFD64997}"/>
              </c:ext>
            </c:extLst>
          </c:dPt>
          <c:dPt>
            <c:idx val="4"/>
            <c:invertIfNegative val="0"/>
            <c:bubble3D val="0"/>
            <c:spPr>
              <a:solidFill>
                <a:srgbClr val="1E2761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50E0-4FA7-AC2D-F9D4CFD64997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0" i="0" u="none" strike="noStrike">
                    <a:solidFill>
                      <a:srgbClr val="0F1840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Early Morning</c:v>
                </c:pt>
                <c:pt idx="1">
                  <c:v>Daytime</c:v>
                </c:pt>
                <c:pt idx="2">
                  <c:v>Early Evening</c:v>
                </c:pt>
                <c:pt idx="3">
                  <c:v>PrimeTime</c:v>
                </c:pt>
                <c:pt idx="4">
                  <c:v>Late Night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1344</c:v>
                </c:pt>
                <c:pt idx="1">
                  <c:v>4273</c:v>
                </c:pt>
                <c:pt idx="2">
                  <c:v>1897</c:v>
                </c:pt>
                <c:pt idx="3">
                  <c:v>1627</c:v>
                </c:pt>
                <c:pt idx="4">
                  <c:v>1848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50E0-4FA7-AC2D-F9D4CFD64997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1"/>
  <c:style val="2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Age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1E2761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6174-4BA7-9231-87C5B5BA7C8F}"/>
              </c:ext>
            </c:extLst>
          </c:dPt>
          <c:dPt>
            <c:idx val="1"/>
            <c:bubble3D val="0"/>
            <c:spPr>
              <a:solidFill>
                <a:srgbClr val="F2B134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6174-4BA7-9231-87C5B5BA7C8F}"/>
              </c:ext>
            </c:extLst>
          </c:dPt>
          <c:dPt>
            <c:idx val="2"/>
            <c:bubble3D val="0"/>
            <c:spPr>
              <a:solidFill>
                <a:srgbClr val="CADCFC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6174-4BA7-9231-87C5B5BA7C8F}"/>
              </c:ext>
            </c:extLst>
          </c:dPt>
          <c:dPt>
            <c:idx val="3"/>
            <c:bubble3D val="0"/>
            <c:spPr>
              <a:solidFill>
                <a:srgbClr val="9CA3AF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6174-4BA7-9231-87C5B5BA7C8F}"/>
              </c:ext>
            </c:extLst>
          </c:dPt>
          <c:dPt>
            <c:idx val="4"/>
            <c:bubble3D val="0"/>
            <c:spPr>
              <a:solidFill>
                <a:srgbClr val="DC262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6174-4BA7-9231-87C5B5BA7C8F}"/>
              </c:ext>
            </c:extLst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6174-4BA7-9231-87C5B5BA7C8F}"/>
                </c:ext>
              </c:extLst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6174-4BA7-9231-87C5B5BA7C8F}"/>
                </c:ext>
              </c:extLst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6174-4BA7-9231-87C5B5BA7C8F}"/>
                </c:ext>
              </c:extLst>
            </c:dLbl>
            <c:dLbl>
              <c:idx val="3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6174-4BA7-9231-87C5B5BA7C8F}"/>
                </c:ext>
              </c:extLst>
            </c:dLbl>
            <c:dLbl>
              <c:idx val="4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9-6174-4BA7-9231-87C5B5BA7C8F}"/>
                </c:ext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Sheet1!$A$2:$A$6</c:f>
              <c:strCache>
                <c:ptCount val="5"/>
                <c:pt idx="0">
                  <c:v>Adult</c:v>
                </c:pt>
                <c:pt idx="1">
                  <c:v>Toddler</c:v>
                </c:pt>
                <c:pt idx="2">
                  <c:v>Teenager</c:v>
                </c:pt>
                <c:pt idx="3">
                  <c:v>Child</c:v>
                </c:pt>
                <c:pt idx="4">
                  <c:v>Senior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9369</c:v>
                </c:pt>
                <c:pt idx="1">
                  <c:v>1005</c:v>
                </c:pt>
                <c:pt idx="2">
                  <c:v>460</c:v>
                </c:pt>
                <c:pt idx="3">
                  <c:v>102</c:v>
                </c:pt>
                <c:pt idx="4">
                  <c:v>53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6174-4BA7-9231-87C5B5BA7C8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60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/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Gender</c:v>
                </c:pt>
              </c:strCache>
            </c:strRef>
          </c:tx>
          <c:spPr>
            <a:solidFill>
              <a:srgbClr val="1E2761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D11F-469B-A69E-637420B4B737}"/>
              </c:ext>
            </c:extLst>
          </c:dPt>
          <c:dPt>
            <c:idx val="1"/>
            <c:invertIfNegative val="0"/>
            <c:bubble3D val="0"/>
            <c:spPr>
              <a:solidFill>
                <a:srgbClr val="F2B134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D11F-469B-A69E-637420B4B737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0F1840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Male</c:v>
                </c:pt>
                <c:pt idx="1">
                  <c:v>Female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8956</c:v>
                </c:pt>
                <c:pt idx="1">
                  <c:v>1026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D11F-469B-A69E-637420B4B737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8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Ethnicity</c:v>
                </c:pt>
              </c:strCache>
            </c:strRef>
          </c:tx>
          <c:spPr>
            <a:solidFill>
              <a:srgbClr val="1E2761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0F1840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Black</c:v>
                </c:pt>
                <c:pt idx="1">
                  <c:v>Coloured</c:v>
                </c:pt>
                <c:pt idx="2">
                  <c:v>Indian/Asian</c:v>
                </c:pt>
                <c:pt idx="3">
                  <c:v>White</c:v>
                </c:pt>
                <c:pt idx="4">
                  <c:v>Other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4480</c:v>
                </c:pt>
                <c:pt idx="1">
                  <c:v>1659</c:v>
                </c:pt>
                <c:pt idx="2">
                  <c:v>1588</c:v>
                </c:pt>
                <c:pt idx="3">
                  <c:v>1326</c:v>
                </c:pt>
                <c:pt idx="4">
                  <c:v>108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DA1F-49D6-8EE2-EC85BAA852B8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Sessions</c:v>
                </c:pt>
              </c:strCache>
            </c:strRef>
          </c:tx>
          <c:spPr>
            <a:solidFill>
              <a:srgbClr val="1E2761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0" i="0" u="none" strike="noStrike">
                    <a:solidFill>
                      <a:srgbClr val="0F1840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Sheet1!$A$2:$A$10</c:f>
              <c:strCache>
                <c:ptCount val="9"/>
                <c:pt idx="0">
                  <c:v>Gauteng</c:v>
                </c:pt>
                <c:pt idx="1">
                  <c:v>Western Cape</c:v>
                </c:pt>
                <c:pt idx="2">
                  <c:v>Kwazulu Natal</c:v>
                </c:pt>
                <c:pt idx="3">
                  <c:v>Mpumalanga</c:v>
                </c:pt>
                <c:pt idx="4">
                  <c:v>Limpopo</c:v>
                </c:pt>
                <c:pt idx="5">
                  <c:v>Eastern Cape</c:v>
                </c:pt>
                <c:pt idx="6">
                  <c:v>North West</c:v>
                </c:pt>
                <c:pt idx="7">
                  <c:v>Free State</c:v>
                </c:pt>
                <c:pt idx="8">
                  <c:v>Northern Cape</c:v>
                </c:pt>
              </c:strCache>
            </c: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3751</c:v>
                </c:pt>
                <c:pt idx="1">
                  <c:v>1866</c:v>
                </c:pt>
                <c:pt idx="2">
                  <c:v>1034</c:v>
                </c:pt>
                <c:pt idx="3">
                  <c:v>948</c:v>
                </c:pt>
                <c:pt idx="4">
                  <c:v>789</c:v>
                </c:pt>
                <c:pt idx="5">
                  <c:v>706</c:v>
                </c:pt>
                <c:pt idx="6">
                  <c:v>353</c:v>
                </c:pt>
                <c:pt idx="7">
                  <c:v>301</c:v>
                </c:pt>
                <c:pt idx="8">
                  <c:v>234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6C7B-4829-816F-6CF1F60F3367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Sessions</c:v>
                </c:pt>
              </c:strCache>
            </c:strRef>
          </c:tx>
          <c:spPr>
            <a:ln w="50800" cap="flat">
              <a:solidFill>
                <a:srgbClr val="1E2761"/>
              </a:solidFill>
              <a:prstDash val="solid"/>
              <a:round/>
            </a:ln>
            <a:effectLst/>
          </c:spPr>
          <c:marker>
            <c:symbol val="circle"/>
            <c:size val="12"/>
            <c:spPr>
              <a:solidFill>
                <a:srgbClr val="1E2761"/>
              </a:solidFill>
              <a:ln w="9525" cap="flat">
                <a:solidFill>
                  <a:srgbClr val="1E2761"/>
                </a:solidFill>
                <a:prstDash val="solid"/>
                <a:round/>
              </a:ln>
              <a:effectLst/>
            </c:spPr>
          </c:marker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0" i="0" u="none" strike="noStrike">
                    <a:solidFill>
                      <a:srgbClr val="0F1840"/>
                    </a:solidFill>
                    <a:latin typeface="Arial"/>
                  </a:defRPr>
                </a:pPr>
                <a:endParaRPr lang="en-US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Sheet1!$A$2:$A$8</c:f>
              <c:strCache>
                <c:ptCount val="7"/>
                <c:pt idx="0">
                  <c:v>Mon</c:v>
                </c:pt>
                <c:pt idx="1">
                  <c:v>Tue</c:v>
                </c:pt>
                <c:pt idx="2">
                  <c:v>Wed</c:v>
                </c:pt>
                <c:pt idx="3">
                  <c:v>Thu</c:v>
                </c:pt>
                <c:pt idx="4">
                  <c:v>Fri</c:v>
                </c:pt>
                <c:pt idx="5">
                  <c:v>Sat</c:v>
                </c:pt>
                <c:pt idx="6">
                  <c:v>Sun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974</c:v>
                </c:pt>
                <c:pt idx="1">
                  <c:v>1321</c:v>
                </c:pt>
                <c:pt idx="2">
                  <c:v>1539</c:v>
                </c:pt>
                <c:pt idx="3">
                  <c:v>1471</c:v>
                </c:pt>
                <c:pt idx="4">
                  <c:v>1642</c:v>
                </c:pt>
                <c:pt idx="5">
                  <c:v>1655</c:v>
                </c:pt>
                <c:pt idx="6">
                  <c:v>1398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1F9C-4335-9E7E-43240BDF5C6E}"/>
            </c:ext>
          </c:extLst>
        </c:ser>
        <c:dLbls>
          <c:dLblPos val="t"/>
          <c:showLegendKey val="0"/>
          <c:showVal val="1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063089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chart" Target="../charts/chart5.xml"/><Relationship Id="rId4" Type="http://schemas.openxmlformats.org/officeDocument/2006/relationships/chart" Target="../charts/char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6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7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F2B13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822960" y="201168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kern="0" spc="800" dirty="0">
                <a:solidFill>
                  <a:srgbClr val="F2B1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BRIGHT TV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822960" y="2560320"/>
            <a:ext cx="100584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Viewer Insights</a:t>
            </a:r>
            <a:endParaRPr lang="en-US" sz="6400" dirty="0"/>
          </a:p>
        </p:txBody>
      </p:sp>
      <p:sp>
        <p:nvSpPr>
          <p:cNvPr id="5" name="Text 3"/>
          <p:cNvSpPr/>
          <p:nvPr/>
        </p:nvSpPr>
        <p:spPr>
          <a:xfrm>
            <a:off x="822960" y="402336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4,387 viewers watched across 18 channels in early 2016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822960" y="4846320"/>
            <a:ext cx="1097280" cy="36576"/>
          </a:xfrm>
          <a:prstGeom prst="rect">
            <a:avLst/>
          </a:prstGeom>
          <a:solidFill>
            <a:srgbClr val="F2B134"/>
          </a:solidFill>
          <a:ln w="12700">
            <a:solidFill>
              <a:srgbClr val="F2B13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822960" y="502920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kern="0" spc="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Audience  ·  Channels  ·  Time  ·  Geography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22960" y="630936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Bright_TV viewing log  ·  Jan–Mar 2016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At a glance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097280"/>
            <a:ext cx="110916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numbers behind the audience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2606040" cy="1554480"/>
          </a:xfrm>
          <a:prstGeom prst="roundRect">
            <a:avLst>
              <a:gd name="adj" fmla="val 5882"/>
            </a:avLst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48640" y="1874520"/>
            <a:ext cx="2606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10,989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548640" y="2697480"/>
            <a:ext cx="2606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0F18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Viewing sessions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337560" y="1737360"/>
            <a:ext cx="2606040" cy="1554480"/>
          </a:xfrm>
          <a:prstGeom prst="roundRect">
            <a:avLst>
              <a:gd name="adj" fmla="val 5882"/>
            </a:avLst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3337560" y="1874520"/>
            <a:ext cx="2606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4,387</a:t>
            </a:r>
            <a:endParaRPr lang="en-US" sz="4400" dirty="0"/>
          </a:p>
        </p:txBody>
      </p:sp>
      <p:sp>
        <p:nvSpPr>
          <p:cNvPr id="9" name="Text 7"/>
          <p:cNvSpPr/>
          <p:nvPr/>
        </p:nvSpPr>
        <p:spPr>
          <a:xfrm>
            <a:off x="3337560" y="2697480"/>
            <a:ext cx="2606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0F18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 viewers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126480" y="1737360"/>
            <a:ext cx="2606040" cy="1554480"/>
          </a:xfrm>
          <a:prstGeom prst="roundRect">
            <a:avLst>
              <a:gd name="adj" fmla="val 5882"/>
            </a:avLst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6126480" y="1874520"/>
            <a:ext cx="2606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18</a:t>
            </a:r>
            <a:endParaRPr lang="en-US" sz="4400" dirty="0"/>
          </a:p>
        </p:txBody>
      </p:sp>
      <p:sp>
        <p:nvSpPr>
          <p:cNvPr id="12" name="Text 10"/>
          <p:cNvSpPr/>
          <p:nvPr/>
        </p:nvSpPr>
        <p:spPr>
          <a:xfrm>
            <a:off x="6126480" y="2697480"/>
            <a:ext cx="2606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0F18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Channels tracked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8915400" y="1737360"/>
            <a:ext cx="2606040" cy="1554480"/>
          </a:xfrm>
          <a:prstGeom prst="roundRect">
            <a:avLst>
              <a:gd name="adj" fmla="val 5882"/>
            </a:avLst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8915400" y="1874520"/>
            <a:ext cx="2606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Jan–Mar</a:t>
            </a:r>
            <a:endParaRPr lang="en-US" sz="4400" dirty="0"/>
          </a:p>
        </p:txBody>
      </p:sp>
      <p:sp>
        <p:nvSpPr>
          <p:cNvPr id="15" name="Text 13"/>
          <p:cNvSpPr/>
          <p:nvPr/>
        </p:nvSpPr>
        <p:spPr>
          <a:xfrm>
            <a:off x="8915400" y="2697480"/>
            <a:ext cx="2606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0F18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2016 window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48640" y="3730752"/>
            <a:ext cx="274320" cy="274320"/>
          </a:xfrm>
          <a:prstGeom prst="ellipse">
            <a:avLst/>
          </a:prstGeom>
          <a:solidFill>
            <a:srgbClr val="F2B134"/>
          </a:solidFill>
          <a:ln w="12700">
            <a:solidFill>
              <a:srgbClr val="F2B13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960120" y="3657600"/>
            <a:ext cx="107259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Sport dominates.  </a:t>
            </a:r>
            <a:r>
              <a:rPr lang="en-US" sz="1400" dirty="0">
                <a:solidFill>
                  <a:srgbClr val="0F18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Supersport Live Events and the ICC Cricket World Cup top the chart — together ~28% of all sessions.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548640" y="4325112"/>
            <a:ext cx="274320" cy="274320"/>
          </a:xfrm>
          <a:prstGeom prst="ellipse">
            <a:avLst/>
          </a:prstGeom>
          <a:solidFill>
            <a:srgbClr val="F2B134"/>
          </a:solidFill>
          <a:ln w="12700">
            <a:solidFill>
              <a:srgbClr val="F2B13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960120" y="4251960"/>
            <a:ext cx="107259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Daytime is king.  </a:t>
            </a:r>
            <a:r>
              <a:rPr lang="en-US" sz="1400" dirty="0">
                <a:solidFill>
                  <a:srgbClr val="0F18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39% of viewing happens during Daytime (10am–4pm), more than PrimeTime and Late Night combined.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548640" y="4919472"/>
            <a:ext cx="274320" cy="274320"/>
          </a:xfrm>
          <a:prstGeom prst="ellipse">
            <a:avLst/>
          </a:prstGeom>
          <a:solidFill>
            <a:srgbClr val="F2B134"/>
          </a:solidFill>
          <a:ln w="12700">
            <a:solidFill>
              <a:srgbClr val="F2B13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960120" y="4846320"/>
            <a:ext cx="107259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Gauteng leads.  </a:t>
            </a:r>
            <a:r>
              <a:rPr lang="en-US" sz="1400" dirty="0">
                <a:solidFill>
                  <a:srgbClr val="0F18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Gauteng alone accounts for 38% of sessions — more than the next two provinces combined.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548640" y="5513832"/>
            <a:ext cx="274320" cy="274320"/>
          </a:xfrm>
          <a:prstGeom prst="ellipse">
            <a:avLst/>
          </a:prstGeom>
          <a:solidFill>
            <a:srgbClr val="F2B134"/>
          </a:solidFill>
          <a:ln w="12700">
            <a:solidFill>
              <a:srgbClr val="F2B13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960120" y="5440680"/>
            <a:ext cx="107259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Adults drive volume.  </a:t>
            </a:r>
            <a:r>
              <a:rPr lang="en-US" sz="1400" dirty="0">
                <a:solidFill>
                  <a:srgbClr val="0F18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85% of sessions come from Adults; the male skew is ~90:10.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Bright TV  ·  Viewer Insights  ·  Q1 2016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11274552" y="649224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Sport and music carry the schedule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097280"/>
            <a:ext cx="110916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10 channels by viewing sessions</a:t>
            </a:r>
            <a:endParaRPr lang="en-US" sz="14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548640" y="1554480"/>
          <a:ext cx="7772400" cy="47548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Shape 2"/>
          <p:cNvSpPr/>
          <p:nvPr/>
        </p:nvSpPr>
        <p:spPr>
          <a:xfrm>
            <a:off x="8595360" y="1737360"/>
            <a:ext cx="3108960" cy="4206240"/>
          </a:xfrm>
          <a:prstGeom prst="roundRect">
            <a:avLst>
              <a:gd name="adj" fmla="val 2941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8778240" y="182880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F2B1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8778240" y="2194560"/>
            <a:ext cx="2743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Sport = 37%</a:t>
            </a:r>
            <a:endParaRPr lang="en-US" sz="3600" dirty="0"/>
          </a:p>
        </p:txBody>
      </p:sp>
      <p:sp>
        <p:nvSpPr>
          <p:cNvPr id="8" name="Text 5"/>
          <p:cNvSpPr/>
          <p:nvPr/>
        </p:nvSpPr>
        <p:spPr>
          <a:xfrm>
            <a:off x="8778240" y="3200400"/>
            <a:ext cx="2743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all sessions come from the four sport channels combined.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8778240" y="4206240"/>
            <a:ext cx="731520" cy="27432"/>
          </a:xfrm>
          <a:prstGeom prst="rect">
            <a:avLst/>
          </a:prstGeom>
          <a:solidFill>
            <a:srgbClr val="F2B134"/>
          </a:solidFill>
          <a:ln w="12700">
            <a:solidFill>
              <a:srgbClr val="F2B13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8778240" y="4343400"/>
            <a:ext cx="27432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Music channels (Channel O, Trace TV) are the strongest non-sport draw — book ad slots around live events for cross-over reach.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Bright TV  ·  Viewer Insights  ·  Q1 2016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11274552" y="649224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Daytime out-watches PrimeTime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097280"/>
            <a:ext cx="110916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Sessions by daypart</a:t>
            </a:r>
            <a:endParaRPr lang="en-US" sz="14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548640" y="1554480"/>
          <a:ext cx="7132320" cy="47548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Shape 2"/>
          <p:cNvSpPr/>
          <p:nvPr/>
        </p:nvSpPr>
        <p:spPr>
          <a:xfrm>
            <a:off x="7955280" y="1737360"/>
            <a:ext cx="3749040" cy="2103120"/>
          </a:xfrm>
          <a:prstGeom prst="roundRect">
            <a:avLst>
              <a:gd name="adj" fmla="val 4348"/>
            </a:avLst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8092440" y="1828800"/>
            <a:ext cx="3474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6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39%</a:t>
            </a:r>
            <a:endParaRPr lang="en-US" sz="5600" dirty="0"/>
          </a:p>
        </p:txBody>
      </p:sp>
      <p:sp>
        <p:nvSpPr>
          <p:cNvPr id="7" name="Text 4"/>
          <p:cNvSpPr/>
          <p:nvPr/>
        </p:nvSpPr>
        <p:spPr>
          <a:xfrm>
            <a:off x="8092440" y="2743200"/>
            <a:ext cx="3474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F18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all viewing happens during Daytime — likely a stay-at-home and shift-worker audience.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7955280" y="4023360"/>
            <a:ext cx="3749040" cy="2286000"/>
          </a:xfrm>
          <a:prstGeom prst="roundRect">
            <a:avLst>
              <a:gd name="adj" fmla="val 4000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8092440" y="411480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F2B1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what?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8092440" y="4526280"/>
            <a:ext cx="347472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PrimeTime delivers only 15% of sessions. Re-evaluate premium ad pricing — Daytime and Late Night together carry 56% of demand and may be undervalued.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Bright TV  ·  Viewer Insights  ·  Q1 2016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11274552" y="649224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Who is watching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097280"/>
            <a:ext cx="110916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Audience composition by age, gender and ethnicity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48640" y="155448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age group</a:t>
            </a:r>
            <a:endParaRPr lang="en-US" sz="1300" dirty="0"/>
          </a:p>
        </p:txBody>
      </p:sp>
      <p:graphicFrame>
        <p:nvGraphicFramePr>
          <p:cNvPr id="5" name="Chart 0"/>
          <p:cNvGraphicFramePr/>
          <p:nvPr/>
        </p:nvGraphicFramePr>
        <p:xfrm>
          <a:off x="365760" y="1920240"/>
          <a:ext cx="3931920" cy="42062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Text 3"/>
          <p:cNvSpPr/>
          <p:nvPr/>
        </p:nvSpPr>
        <p:spPr>
          <a:xfrm>
            <a:off x="4480560" y="155448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gender</a:t>
            </a:r>
            <a:endParaRPr lang="en-US" sz="1300" dirty="0"/>
          </a:p>
        </p:txBody>
      </p:sp>
      <p:graphicFrame>
        <p:nvGraphicFramePr>
          <p:cNvPr id="7" name="Chart 1"/>
          <p:cNvGraphicFramePr/>
          <p:nvPr/>
        </p:nvGraphicFramePr>
        <p:xfrm>
          <a:off x="4297680" y="1920240"/>
          <a:ext cx="3931920" cy="42062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8" name="Text 4"/>
          <p:cNvSpPr/>
          <p:nvPr/>
        </p:nvSpPr>
        <p:spPr>
          <a:xfrm>
            <a:off x="8412480" y="155448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ethnicity</a:t>
            </a:r>
            <a:endParaRPr lang="en-US" sz="1300" dirty="0"/>
          </a:p>
        </p:txBody>
      </p:sp>
      <p:graphicFrame>
        <p:nvGraphicFramePr>
          <p:cNvPr id="9" name="Chart 2"/>
          <p:cNvGraphicFramePr/>
          <p:nvPr/>
        </p:nvGraphicFramePr>
        <p:xfrm>
          <a:off x="8229600" y="1920240"/>
          <a:ext cx="3840480" cy="42062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10" name="Text 5"/>
          <p:cNvSpPr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Bright TV  ·  Viewer Insights  ·  Q1 2016</a:t>
            </a:r>
            <a:endParaRPr lang="en-US" sz="1000" dirty="0"/>
          </a:p>
        </p:txBody>
      </p:sp>
      <p:sp>
        <p:nvSpPr>
          <p:cNvPr id="11" name="Text 6"/>
          <p:cNvSpPr/>
          <p:nvPr/>
        </p:nvSpPr>
        <p:spPr>
          <a:xfrm>
            <a:off x="11274552" y="649224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Three provinces drive two-thirds of viewing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097280"/>
            <a:ext cx="110916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Sessions by province</a:t>
            </a:r>
            <a:endParaRPr lang="en-US" sz="14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548640" y="1554480"/>
          <a:ext cx="7772400" cy="47548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Shape 2"/>
          <p:cNvSpPr/>
          <p:nvPr/>
        </p:nvSpPr>
        <p:spPr>
          <a:xfrm>
            <a:off x="8595360" y="1737360"/>
            <a:ext cx="3108960" cy="1325880"/>
          </a:xfrm>
          <a:prstGeom prst="roundRect">
            <a:avLst>
              <a:gd name="adj" fmla="val 5517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8732520" y="1783080"/>
            <a:ext cx="2834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2B13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38%</a:t>
            </a:r>
            <a:endParaRPr lang="en-US" sz="3600" dirty="0"/>
          </a:p>
        </p:txBody>
      </p:sp>
      <p:sp>
        <p:nvSpPr>
          <p:cNvPr id="7" name="Text 4"/>
          <p:cNvSpPr/>
          <p:nvPr/>
        </p:nvSpPr>
        <p:spPr>
          <a:xfrm>
            <a:off x="8732520" y="2468880"/>
            <a:ext cx="2834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Gauteng share of all sessions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8595360" y="3246120"/>
            <a:ext cx="3108960" cy="1325880"/>
          </a:xfrm>
          <a:prstGeom prst="roundRect">
            <a:avLst>
              <a:gd name="adj" fmla="val 5517"/>
            </a:avLst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8732520" y="3291840"/>
            <a:ext cx="2834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67%</a:t>
            </a:r>
            <a:endParaRPr lang="en-US" sz="3600" dirty="0"/>
          </a:p>
        </p:txBody>
      </p:sp>
      <p:sp>
        <p:nvSpPr>
          <p:cNvPr id="10" name="Text 7"/>
          <p:cNvSpPr/>
          <p:nvPr/>
        </p:nvSpPr>
        <p:spPr>
          <a:xfrm>
            <a:off x="8732520" y="3977640"/>
            <a:ext cx="2834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F18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3 provinces combined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8595360" y="4754880"/>
            <a:ext cx="3108960" cy="1325880"/>
          </a:xfrm>
          <a:prstGeom prst="roundRect">
            <a:avLst>
              <a:gd name="adj" fmla="val 5517"/>
            </a:avLst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8732520" y="4800600"/>
            <a:ext cx="2834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1,608</a:t>
            </a:r>
            <a:endParaRPr lang="en-US" sz="3600" dirty="0"/>
          </a:p>
        </p:txBody>
      </p:sp>
      <p:sp>
        <p:nvSpPr>
          <p:cNvPr id="13" name="Text 10"/>
          <p:cNvSpPr/>
          <p:nvPr/>
        </p:nvSpPr>
        <p:spPr>
          <a:xfrm>
            <a:off x="8732520" y="5486400"/>
            <a:ext cx="2834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F18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 viewers in Gauteng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Bright TV  ·  Viewer Insights  ·  Q1 2016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11274552" y="649224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Weekends edge out weekdays per day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097280"/>
            <a:ext cx="110916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Sessions by day of week (avg per day)</a:t>
            </a:r>
            <a:endParaRPr lang="en-US" sz="14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548640" y="1554480"/>
          <a:ext cx="7772400" cy="47548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Shape 2"/>
          <p:cNvSpPr/>
          <p:nvPr/>
        </p:nvSpPr>
        <p:spPr>
          <a:xfrm>
            <a:off x="8595360" y="1737360"/>
            <a:ext cx="3108960" cy="2011680"/>
          </a:xfrm>
          <a:prstGeom prst="roundRect">
            <a:avLst>
              <a:gd name="adj" fmla="val 4545"/>
            </a:avLst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8732520" y="1783080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Fri &amp; Sat peak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8732520" y="2286000"/>
            <a:ext cx="28346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F18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Friday and Saturday tie at the top — viewers settle in for the weekend a day early.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8595360" y="3931920"/>
            <a:ext cx="3108960" cy="2377440"/>
          </a:xfrm>
          <a:prstGeom prst="roundRect">
            <a:avLst>
              <a:gd name="adj" fmla="val 3846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8732520" y="4023360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F2B1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Monday slump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8732520" y="4526280"/>
            <a:ext cx="2834640" cy="1691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Monday sees ~40% fewer sessions than Friday. A counter-programmed Monday tent-pole could capture untapped demand.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Bright TV  ·  Viewer Insights  ·  Q1 2016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11274552" y="649224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F2B13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822960" y="50292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600" dirty="0">
                <a:solidFill>
                  <a:srgbClr val="F2B1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RECOMMENDATIONS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" y="960120"/>
            <a:ext cx="10058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Where to focus next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822960" y="1920240"/>
            <a:ext cx="822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2B13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1737360" y="1965960"/>
            <a:ext cx="96926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Lean into live sport.  </a:t>
            </a: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Sport drives 37% of sessions. Lock in long-term rights, build event-led ad packages, and bundle Channel O / Trace TV around match windows.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22960" y="2788920"/>
            <a:ext cx="822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2B13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1737360" y="2834640"/>
            <a:ext cx="96926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Re-price Daytime.  </a:t>
            </a: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Daytime carries 39% of demand vs. 15% for PrimeTime. Lift Daytime CPMs and create a 'Daytime+' ad tier.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22960" y="3657600"/>
            <a:ext cx="822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2B13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1737360" y="3703320"/>
            <a:ext cx="96926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 Gauteng deeper, then expand.  </a:t>
            </a: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Gauteng = 38% of viewing. Defend it with regional content, then run paid acquisition tests in Eastern Cape and KZN where reach lags GDP.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822960" y="4526280"/>
            <a:ext cx="822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2B13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3200" dirty="0"/>
          </a:p>
        </p:txBody>
      </p:sp>
      <p:sp>
        <p:nvSpPr>
          <p:cNvPr id="12" name="Text 10"/>
          <p:cNvSpPr/>
          <p:nvPr/>
        </p:nvSpPr>
        <p:spPr>
          <a:xfrm>
            <a:off x="1737360" y="4572000"/>
            <a:ext cx="96926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 the Monday slump.  </a:t>
            </a: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 one anchor show on Monday night — the gap to Friday is ~668 sessions of headroom.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22960" y="5394960"/>
            <a:ext cx="822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2B13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3200" dirty="0"/>
          </a:p>
        </p:txBody>
      </p:sp>
      <p:sp>
        <p:nvSpPr>
          <p:cNvPr id="14" name="Text 12"/>
          <p:cNvSpPr/>
          <p:nvPr/>
        </p:nvSpPr>
        <p:spPr>
          <a:xfrm>
            <a:off x="1737360" y="5440680"/>
            <a:ext cx="96926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Court the female audience.  </a:t>
            </a: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90:10 male skew leaves the largest underserved segment. Greenlight content adjacent to Africa Magic and E! Entertainment.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568</Words>
  <Application>Microsoft Office PowerPoint</Application>
  <PresentationFormat>Widescreen</PresentationFormat>
  <Paragraphs>82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Calibri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Bright TV — Viewer Insights</dc:title>
  <dc:subject>PptxGenJS Presentation</dc:subject>
  <dc:creator>PptxGenJS</dc:creator>
  <cp:lastModifiedBy>Thokoa, Joe (RJ)</cp:lastModifiedBy>
  <cp:revision>1</cp:revision>
  <dcterms:created xsi:type="dcterms:W3CDTF">2026-04-19T20:34:44Z</dcterms:created>
  <dcterms:modified xsi:type="dcterms:W3CDTF">2026-04-19T20:41:13Z</dcterms:modified>
</cp:coreProperties>
</file>